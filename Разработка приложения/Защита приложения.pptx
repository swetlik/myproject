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  <p:sldMasterId id="2147483744" r:id="rId2"/>
    <p:sldMasterId id="2147483749" r:id="rId3"/>
  </p:sldMasterIdLst>
  <p:notesMasterIdLst>
    <p:notesMasterId r:id="rId14"/>
  </p:notesMasterIdLst>
  <p:sldIdLst>
    <p:sldId id="261" r:id="rId4"/>
    <p:sldId id="431" r:id="rId5"/>
    <p:sldId id="432" r:id="rId6"/>
    <p:sldId id="437" r:id="rId7"/>
    <p:sldId id="436" r:id="rId8"/>
    <p:sldId id="438" r:id="rId9"/>
    <p:sldId id="439" r:id="rId10"/>
    <p:sldId id="440" r:id="rId11"/>
    <p:sldId id="441" r:id="rId12"/>
    <p:sldId id="43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3" clrIdx="0">
    <p:extLst>
      <p:ext uri="{19B8F6BF-5375-455C-9EA6-DF929625EA0E}">
        <p15:presenceInfo xmlns:p15="http://schemas.microsoft.com/office/powerpoint/2012/main" userId="f0595952bf2395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412D5"/>
    <a:srgbClr val="000000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5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B6D0F-8444-6648-95BB-C991FFD6E818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0DFF4-30A0-6641-A1D6-4AD7A6878D0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99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/>
          <p:cNvSpPr/>
          <p:nvPr userDrawn="1"/>
        </p:nvSpPr>
        <p:spPr>
          <a:xfrm rot="10800000">
            <a:off x="764341" y="2162220"/>
            <a:ext cx="9773029" cy="329873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8231"/>
              <a:gd name="connsiteX1" fmla="*/ 0 w 909835"/>
              <a:gd name="connsiteY1" fmla="*/ 594339 h 688231"/>
              <a:gd name="connsiteX2" fmla="*/ 61184 w 909835"/>
              <a:gd name="connsiteY2" fmla="*/ 685911 h 688231"/>
              <a:gd name="connsiteX3" fmla="*/ 847726 w 909835"/>
              <a:gd name="connsiteY3" fmla="*/ 684827 h 688231"/>
              <a:gd name="connsiteX4" fmla="*/ 907257 w 909835"/>
              <a:gd name="connsiteY4" fmla="*/ 577671 h 688231"/>
              <a:gd name="connsiteX5" fmla="*/ 909835 w 909835"/>
              <a:gd name="connsiteY5" fmla="*/ 65702 h 688231"/>
              <a:gd name="connsiteX6" fmla="*/ 828675 w 909835"/>
              <a:gd name="connsiteY6" fmla="*/ 13314 h 688231"/>
              <a:gd name="connsiteX7" fmla="*/ 45244 w 909835"/>
              <a:gd name="connsiteY7" fmla="*/ 275252 h 688231"/>
              <a:gd name="connsiteX8" fmla="*/ 0 w 909835"/>
              <a:gd name="connsiteY8" fmla="*/ 384791 h 68823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45244 w 909835"/>
              <a:gd name="connsiteY7" fmla="*/ 275252 h 685911"/>
              <a:gd name="connsiteX8" fmla="*/ 0 w 909835"/>
              <a:gd name="connsiteY8" fmla="*/ 384791 h 685911"/>
              <a:gd name="connsiteX0" fmla="*/ 1990 w 911825"/>
              <a:gd name="connsiteY0" fmla="*/ 384791 h 685911"/>
              <a:gd name="connsiteX1" fmla="*/ 1990 w 911825"/>
              <a:gd name="connsiteY1" fmla="*/ 594339 h 685911"/>
              <a:gd name="connsiteX2" fmla="*/ 63174 w 911825"/>
              <a:gd name="connsiteY2" fmla="*/ 685911 h 685911"/>
              <a:gd name="connsiteX3" fmla="*/ 849716 w 911825"/>
              <a:gd name="connsiteY3" fmla="*/ 684827 h 685911"/>
              <a:gd name="connsiteX4" fmla="*/ 909247 w 911825"/>
              <a:gd name="connsiteY4" fmla="*/ 577671 h 685911"/>
              <a:gd name="connsiteX5" fmla="*/ 911825 w 911825"/>
              <a:gd name="connsiteY5" fmla="*/ 65702 h 685911"/>
              <a:gd name="connsiteX6" fmla="*/ 830665 w 911825"/>
              <a:gd name="connsiteY6" fmla="*/ 13314 h 685911"/>
              <a:gd name="connsiteX7" fmla="*/ 35396 w 911825"/>
              <a:gd name="connsiteY7" fmla="*/ 282118 h 685911"/>
              <a:gd name="connsiteX8" fmla="*/ 1990 w 911825"/>
              <a:gd name="connsiteY8" fmla="*/ 384791 h 68591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33406 w 909835"/>
              <a:gd name="connsiteY7" fmla="*/ 282118 h 685911"/>
              <a:gd name="connsiteX8" fmla="*/ 0 w 909835"/>
              <a:gd name="connsiteY8" fmla="*/ 384791 h 685911"/>
              <a:gd name="connsiteX0" fmla="*/ 0 w 909835"/>
              <a:gd name="connsiteY0" fmla="*/ 388112 h 689232"/>
              <a:gd name="connsiteX1" fmla="*/ 0 w 909835"/>
              <a:gd name="connsiteY1" fmla="*/ 597660 h 689232"/>
              <a:gd name="connsiteX2" fmla="*/ 61184 w 909835"/>
              <a:gd name="connsiteY2" fmla="*/ 689232 h 689232"/>
              <a:gd name="connsiteX3" fmla="*/ 847726 w 909835"/>
              <a:gd name="connsiteY3" fmla="*/ 688148 h 689232"/>
              <a:gd name="connsiteX4" fmla="*/ 907257 w 909835"/>
              <a:gd name="connsiteY4" fmla="*/ 580992 h 689232"/>
              <a:gd name="connsiteX5" fmla="*/ 909835 w 909835"/>
              <a:gd name="connsiteY5" fmla="*/ 69023 h 689232"/>
              <a:gd name="connsiteX6" fmla="*/ 851612 w 909835"/>
              <a:gd name="connsiteY6" fmla="*/ 11485 h 689232"/>
              <a:gd name="connsiteX7" fmla="*/ 33406 w 909835"/>
              <a:gd name="connsiteY7" fmla="*/ 285439 h 689232"/>
              <a:gd name="connsiteX8" fmla="*/ 0 w 909835"/>
              <a:gd name="connsiteY8" fmla="*/ 388112 h 68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89232">
                <a:moveTo>
                  <a:pt x="0" y="388112"/>
                </a:moveTo>
                <a:lnTo>
                  <a:pt x="0" y="597660"/>
                </a:lnTo>
                <a:cubicBezTo>
                  <a:pt x="314" y="708613"/>
                  <a:pt x="1707" y="683031"/>
                  <a:pt x="61184" y="689232"/>
                </a:cubicBezTo>
                <a:lnTo>
                  <a:pt x="847726" y="688148"/>
                </a:lnTo>
                <a:cubicBezTo>
                  <a:pt x="914024" y="696683"/>
                  <a:pt x="907077" y="646519"/>
                  <a:pt x="907257" y="580992"/>
                </a:cubicBezTo>
                <a:cubicBezTo>
                  <a:pt x="908116" y="410336"/>
                  <a:pt x="908976" y="239679"/>
                  <a:pt x="909835" y="69023"/>
                </a:cubicBezTo>
                <a:cubicBezTo>
                  <a:pt x="909889" y="-19382"/>
                  <a:pt x="896982" y="-2998"/>
                  <a:pt x="851612" y="11485"/>
                </a:cubicBezTo>
                <a:lnTo>
                  <a:pt x="33406" y="285439"/>
                </a:lnTo>
                <a:cubicBezTo>
                  <a:pt x="-5008" y="299234"/>
                  <a:pt x="701" y="316090"/>
                  <a:pt x="0" y="388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 userDrawn="1"/>
        </p:nvSpPr>
        <p:spPr>
          <a:xfrm>
            <a:off x="4730750" y="1217017"/>
            <a:ext cx="6781800" cy="2192335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326">
                <a:moveTo>
                  <a:pt x="0" y="384791"/>
                </a:moveTo>
                <a:lnTo>
                  <a:pt x="0" y="594339"/>
                </a:lnTo>
                <a:cubicBezTo>
                  <a:pt x="314" y="705292"/>
                  <a:pt x="53182" y="691972"/>
                  <a:pt x="111919" y="689590"/>
                </a:cubicBezTo>
                <a:lnTo>
                  <a:pt x="847726" y="684827"/>
                </a:lnTo>
                <a:cubicBezTo>
                  <a:pt x="914024" y="693362"/>
                  <a:pt x="907077" y="643198"/>
                  <a:pt x="907257" y="577671"/>
                </a:cubicBezTo>
                <a:cubicBezTo>
                  <a:pt x="908116" y="407015"/>
                  <a:pt x="908976" y="236358"/>
                  <a:pt x="909835" y="65702"/>
                </a:cubicBezTo>
                <a:cubicBezTo>
                  <a:pt x="909889" y="-22703"/>
                  <a:pt x="874045" y="-1169"/>
                  <a:pt x="828675" y="13314"/>
                </a:cubicBezTo>
                <a:lnTo>
                  <a:pt x="45244" y="275252"/>
                </a:lnTo>
                <a:cubicBezTo>
                  <a:pt x="-3528" y="294197"/>
                  <a:pt x="701" y="312769"/>
                  <a:pt x="0" y="38479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2"/>
          <p:cNvSpPr>
            <a:spLocks noGrp="1"/>
          </p:cNvSpPr>
          <p:nvPr>
            <p:ph type="title" hasCustomPrompt="1"/>
          </p:nvPr>
        </p:nvSpPr>
        <p:spPr>
          <a:xfrm>
            <a:off x="1206500" y="2574930"/>
            <a:ext cx="72771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ba-RU" dirty="0"/>
              <a:t>Заголовок</a:t>
            </a:r>
            <a:endParaRPr lang="ru-RU" dirty="0"/>
          </a:p>
        </p:txBody>
      </p:sp>
      <p:sp>
        <p:nvSpPr>
          <p:cNvPr id="18" name="Полилиния 17"/>
          <p:cNvSpPr/>
          <p:nvPr userDrawn="1"/>
        </p:nvSpPr>
        <p:spPr>
          <a:xfrm rot="10800000">
            <a:off x="1575971" y="4090869"/>
            <a:ext cx="7747000" cy="189925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60014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9590"/>
              <a:gd name="connsiteX1" fmla="*/ 0 w 909835"/>
              <a:gd name="connsiteY1" fmla="*/ 594339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4791 h 690195"/>
              <a:gd name="connsiteX1" fmla="*/ 0 w 909835"/>
              <a:gd name="connsiteY1" fmla="*/ 594339 h 690195"/>
              <a:gd name="connsiteX2" fmla="*/ 60014 w 909835"/>
              <a:gd name="connsiteY2" fmla="*/ 689590 h 690195"/>
              <a:gd name="connsiteX3" fmla="*/ 847726 w 909835"/>
              <a:gd name="connsiteY3" fmla="*/ 684827 h 690195"/>
              <a:gd name="connsiteX4" fmla="*/ 907257 w 909835"/>
              <a:gd name="connsiteY4" fmla="*/ 577671 h 690195"/>
              <a:gd name="connsiteX5" fmla="*/ 909835 w 909835"/>
              <a:gd name="connsiteY5" fmla="*/ 65702 h 690195"/>
              <a:gd name="connsiteX6" fmla="*/ 828675 w 909835"/>
              <a:gd name="connsiteY6" fmla="*/ 13314 h 690195"/>
              <a:gd name="connsiteX7" fmla="*/ 45244 w 909835"/>
              <a:gd name="connsiteY7" fmla="*/ 275252 h 690195"/>
              <a:gd name="connsiteX8" fmla="*/ 0 w 909835"/>
              <a:gd name="connsiteY8" fmla="*/ 384791 h 690195"/>
              <a:gd name="connsiteX0" fmla="*/ 0 w 909835"/>
              <a:gd name="connsiteY0" fmla="*/ 384791 h 689590"/>
              <a:gd name="connsiteX1" fmla="*/ 0 w 909835"/>
              <a:gd name="connsiteY1" fmla="*/ 580458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969">
                <a:moveTo>
                  <a:pt x="0" y="387170"/>
                </a:moveTo>
                <a:lnTo>
                  <a:pt x="0" y="582837"/>
                </a:lnTo>
                <a:cubicBezTo>
                  <a:pt x="314" y="693790"/>
                  <a:pt x="2172" y="691574"/>
                  <a:pt x="60014" y="691969"/>
                </a:cubicBezTo>
                <a:lnTo>
                  <a:pt x="847726" y="687206"/>
                </a:lnTo>
                <a:cubicBezTo>
                  <a:pt x="901495" y="687412"/>
                  <a:pt x="901708" y="648353"/>
                  <a:pt x="907257" y="580050"/>
                </a:cubicBezTo>
                <a:cubicBezTo>
                  <a:pt x="908116" y="409394"/>
                  <a:pt x="908976" y="238737"/>
                  <a:pt x="909835" y="68081"/>
                </a:cubicBezTo>
                <a:cubicBezTo>
                  <a:pt x="906309" y="-20324"/>
                  <a:pt x="891944" y="-1567"/>
                  <a:pt x="845679" y="10140"/>
                </a:cubicBezTo>
                <a:lnTo>
                  <a:pt x="45244" y="277631"/>
                </a:lnTo>
                <a:cubicBezTo>
                  <a:pt x="-3528" y="296576"/>
                  <a:pt x="701" y="315148"/>
                  <a:pt x="0" y="38717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168525" y="4609503"/>
            <a:ext cx="6315075" cy="617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a-RU" dirty="0"/>
              <a:t>П</a:t>
            </a:r>
            <a:r>
              <a:rPr lang="ru-RU" dirty="0" err="1"/>
              <a:t>одзаголовок</a:t>
            </a:r>
            <a:endParaRPr lang="ru-RU" dirty="0"/>
          </a:p>
        </p:txBody>
      </p:sp>
      <p:sp>
        <p:nvSpPr>
          <p:cNvPr id="21" name="Подзаголовок 2"/>
          <p:cNvSpPr txBox="1">
            <a:spLocks/>
          </p:cNvSpPr>
          <p:nvPr userDrawn="1"/>
        </p:nvSpPr>
        <p:spPr>
          <a:xfrm>
            <a:off x="10764611" y="6198688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единительная линия 21"/>
          <p:cNvCxnSpPr/>
          <p:nvPr userDrawn="1"/>
        </p:nvCxnSpPr>
        <p:spPr>
          <a:xfrm flipH="1">
            <a:off x="10764611" y="6580776"/>
            <a:ext cx="142738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7E17F2-3CC4-B00E-27FE-B100C036B9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E82BA9-74AD-17CF-1A53-BBDD90CD91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025" y="539729"/>
            <a:ext cx="2091134" cy="4112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9FE15A-ABDE-7FC7-E24B-5A0EC53B9D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15161" y="539175"/>
            <a:ext cx="1396721" cy="412365"/>
          </a:xfrm>
          <a:prstGeom prst="rect">
            <a:avLst/>
          </a:prstGeom>
        </p:spPr>
      </p:pic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ACD9C915-F3D9-8FA4-DF80-2B37D2D77359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0478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</p:spTree>
    <p:extLst>
      <p:ext uri="{BB962C8B-B14F-4D97-AF65-F5344CB8AC3E}">
        <p14:creationId xmlns:p14="http://schemas.microsoft.com/office/powerpoint/2010/main" val="2050473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2DFE90-2087-9F61-F080-CED42C8B29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025" y="539729"/>
            <a:ext cx="2091134" cy="41125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25F32A-7ED6-7E13-48BF-A98EA947C5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15161" y="539175"/>
            <a:ext cx="1396721" cy="412365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0CCBB3D-6731-49C7-EAE6-824574790335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</p:spTree>
    <p:extLst>
      <p:ext uri="{BB962C8B-B14F-4D97-AF65-F5344CB8AC3E}">
        <p14:creationId xmlns:p14="http://schemas.microsoft.com/office/powerpoint/2010/main" val="75018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2DFE90-2087-9F61-F080-CED42C8B29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025" y="539729"/>
            <a:ext cx="2091134" cy="41125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25F32A-7ED6-7E13-48BF-A98EA947C5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15161" y="539175"/>
            <a:ext cx="1396721" cy="412365"/>
          </a:xfrm>
          <a:prstGeom prst="rect">
            <a:avLst/>
          </a:prstGeom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4FCD3AC-B02F-2132-8A13-C81FB32562A1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</p:spTree>
    <p:extLst>
      <p:ext uri="{BB962C8B-B14F-4D97-AF65-F5344CB8AC3E}">
        <p14:creationId xmlns:p14="http://schemas.microsoft.com/office/powerpoint/2010/main" val="303040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2997F20-B189-B49C-E508-4DC3AECE1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0508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AFB311-1B76-CB01-1FFC-E0D44BA480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lum bright="100000"/>
            <a:alphaModFix amt="5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9827" y="5908033"/>
            <a:ext cx="1943362" cy="55781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4367026-5CD1-E17D-8416-297CE56A347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081" y="5974320"/>
            <a:ext cx="2153892" cy="4252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843E47-0782-D5B0-9C3B-53674941830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23" y="5861623"/>
            <a:ext cx="3097098" cy="65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21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бъект 20"/>
          <p:cNvSpPr>
            <a:spLocks noGrp="1"/>
          </p:cNvSpPr>
          <p:nvPr>
            <p:ph sz="quarter" idx="10"/>
          </p:nvPr>
        </p:nvSpPr>
        <p:spPr>
          <a:xfrm>
            <a:off x="0" y="1076325"/>
            <a:ext cx="12192000" cy="5791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771315"/>
            <a:ext cx="11036301" cy="934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дзаголовок 2"/>
          <p:cNvSpPr txBox="1">
            <a:spLocks/>
          </p:cNvSpPr>
          <p:nvPr userDrawn="1"/>
        </p:nvSpPr>
        <p:spPr>
          <a:xfrm>
            <a:off x="590550" y="6246586"/>
            <a:ext cx="11601452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a-RU" sz="1800" dirty="0">
                <a:solidFill>
                  <a:schemeClr val="bg1">
                    <a:lumMod val="65000"/>
                  </a:schemeClr>
                </a:solidFill>
              </a:rPr>
              <a:t>Уфимский</a:t>
            </a:r>
            <a:r>
              <a:rPr lang="ba-RU" sz="1800" baseline="0" dirty="0">
                <a:solidFill>
                  <a:schemeClr val="bg1">
                    <a:lumMod val="65000"/>
                  </a:schemeClr>
                </a:solidFill>
              </a:rPr>
              <a:t> университет науки и технологий</a:t>
            </a:r>
            <a:endParaRPr lang="ru-RU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0549" y="267494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" y="771315"/>
            <a:ext cx="4351019" cy="9344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036301" y="155015"/>
            <a:ext cx="660399" cy="610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847" y="267494"/>
            <a:ext cx="435439" cy="4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6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771315"/>
            <a:ext cx="11036301" cy="934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дзаголовок 2"/>
          <p:cNvSpPr txBox="1">
            <a:spLocks/>
          </p:cNvSpPr>
          <p:nvPr userDrawn="1"/>
        </p:nvSpPr>
        <p:spPr>
          <a:xfrm>
            <a:off x="590548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uust.ru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0549" y="267494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1066800"/>
            <a:ext cx="11106152" cy="49107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" y="771315"/>
            <a:ext cx="4351019" cy="9344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036301" y="155015"/>
            <a:ext cx="660399" cy="610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847" y="267494"/>
            <a:ext cx="435439" cy="4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2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rgbClr val="5412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30522" y="1274408"/>
            <a:ext cx="11120789" cy="45719"/>
          </a:xfrm>
          <a:prstGeom prst="rect">
            <a:avLst/>
          </a:prstGeom>
          <a:solidFill>
            <a:schemeClr val="bg2">
              <a:lumMod val="7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A133C9-2A45-27AB-FDB1-305A2292F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100000"/>
            <a:alphaModFix amt="5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4167" y="478783"/>
            <a:ext cx="1943362" cy="55781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C27F65-B76E-4E94-7658-49E5BF7651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421" y="545070"/>
            <a:ext cx="2153892" cy="4252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D469DD2-469D-30C4-7ED1-D960D0060E4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23" y="432373"/>
            <a:ext cx="3097098" cy="65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51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3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1" y="-1"/>
            <a:ext cx="12191999" cy="1341121"/>
          </a:xfrm>
          <a:prstGeom prst="rect">
            <a:avLst/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4" name="Объект 2"/>
          <p:cNvSpPr>
            <a:spLocks noGrp="1"/>
          </p:cNvSpPr>
          <p:nvPr>
            <p:ph idx="1" hasCustomPrompt="1"/>
          </p:nvPr>
        </p:nvSpPr>
        <p:spPr>
          <a:xfrm>
            <a:off x="3324225" y="1516103"/>
            <a:ext cx="8372475" cy="51034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Текст</a:t>
            </a:r>
          </a:p>
        </p:txBody>
      </p:sp>
      <p:sp>
        <p:nvSpPr>
          <p:cNvPr id="19" name="Объект 4"/>
          <p:cNvSpPr>
            <a:spLocks noGrp="1"/>
          </p:cNvSpPr>
          <p:nvPr>
            <p:ph idx="15" hasCustomPrompt="1"/>
          </p:nvPr>
        </p:nvSpPr>
        <p:spPr>
          <a:xfrm>
            <a:off x="604702" y="1516103"/>
            <a:ext cx="2408545" cy="1589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2" name="Объект 4"/>
          <p:cNvSpPr>
            <a:spLocks noGrp="1"/>
          </p:cNvSpPr>
          <p:nvPr>
            <p:ph idx="16" hasCustomPrompt="1"/>
          </p:nvPr>
        </p:nvSpPr>
        <p:spPr>
          <a:xfrm>
            <a:off x="604701" y="5029707"/>
            <a:ext cx="2408545" cy="1589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Фото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FDCF3F-7912-13E9-C83F-863DD9CDCE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3"/>
          <a:stretch/>
        </p:blipFill>
        <p:spPr>
          <a:xfrm>
            <a:off x="1437563" y="308437"/>
            <a:ext cx="1494881" cy="433901"/>
          </a:xfrm>
          <a:prstGeom prst="rect">
            <a:avLst/>
          </a:prstGeom>
        </p:spPr>
      </p:pic>
      <p:sp>
        <p:nvSpPr>
          <p:cNvPr id="23" name="Объект 4"/>
          <p:cNvSpPr>
            <a:spLocks noGrp="1"/>
          </p:cNvSpPr>
          <p:nvPr>
            <p:ph idx="17" hasCustomPrompt="1"/>
          </p:nvPr>
        </p:nvSpPr>
        <p:spPr>
          <a:xfrm>
            <a:off x="604701" y="3272905"/>
            <a:ext cx="2408545" cy="1589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5" name="Подзаголовок 2"/>
          <p:cNvSpPr txBox="1">
            <a:spLocks/>
          </p:cNvSpPr>
          <p:nvPr userDrawn="1"/>
        </p:nvSpPr>
        <p:spPr>
          <a:xfrm>
            <a:off x="1437563" y="785574"/>
            <a:ext cx="1137750" cy="247410"/>
          </a:xfrm>
          <a:prstGeom prst="rect">
            <a:avLst/>
          </a:prstGeom>
          <a:solidFill>
            <a:schemeClr val="bg1">
              <a:alpha val="9366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www.uust.ru</a:t>
            </a:r>
            <a:endParaRPr lang="ru-RU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4A6558-41DA-1556-029F-F7E2E598C60A}"/>
              </a:ext>
            </a:extLst>
          </p:cNvPr>
          <p:cNvSpPr/>
          <p:nvPr userDrawn="1"/>
        </p:nvSpPr>
        <p:spPr>
          <a:xfrm>
            <a:off x="9360806" y="-6094292"/>
            <a:ext cx="530522" cy="5842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78F31C-D7AF-6459-3AEE-50A66C3381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lum bright="100000"/>
            <a:alphaModFix amt="5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4167" y="405043"/>
            <a:ext cx="1943362" cy="55781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01FE06-E747-E8BC-E4D4-21108208D3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421" y="471330"/>
            <a:ext cx="2153892" cy="42524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FAAD9F-072E-A347-42AE-F2F2DEC8C8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76" r="75712"/>
          <a:stretch/>
        </p:blipFill>
        <p:spPr>
          <a:xfrm>
            <a:off x="483524" y="310627"/>
            <a:ext cx="872144" cy="72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45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3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 userDrawn="1"/>
        </p:nvSpPr>
        <p:spPr>
          <a:xfrm>
            <a:off x="0" y="-17440"/>
            <a:ext cx="3086100" cy="925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3086100" y="1"/>
            <a:ext cx="9105900" cy="9079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393"/>
          <a:stretch/>
        </p:blipFill>
        <p:spPr>
          <a:xfrm>
            <a:off x="527368" y="115055"/>
            <a:ext cx="735542" cy="629610"/>
          </a:xfrm>
          <a:prstGeom prst="rect">
            <a:avLst/>
          </a:prstGeom>
        </p:spPr>
      </p:pic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085956" y="155015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" y="771315"/>
            <a:ext cx="3013245" cy="93445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1" name="Объект 2"/>
          <p:cNvSpPr>
            <a:spLocks noGrp="1"/>
          </p:cNvSpPr>
          <p:nvPr>
            <p:ph idx="1" hasCustomPrompt="1"/>
          </p:nvPr>
        </p:nvSpPr>
        <p:spPr>
          <a:xfrm>
            <a:off x="527369" y="1221135"/>
            <a:ext cx="11169332" cy="4829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Текст</a:t>
            </a: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1" r="-844"/>
          <a:stretch/>
        </p:blipFill>
        <p:spPr>
          <a:xfrm>
            <a:off x="1292054" y="115055"/>
            <a:ext cx="1400176" cy="422524"/>
          </a:xfrm>
          <a:prstGeom prst="rect">
            <a:avLst/>
          </a:prstGeom>
        </p:spPr>
      </p:pic>
      <p:sp>
        <p:nvSpPr>
          <p:cNvPr id="16" name="Подзаголовок 2"/>
          <p:cNvSpPr txBox="1">
            <a:spLocks/>
          </p:cNvSpPr>
          <p:nvPr userDrawn="1"/>
        </p:nvSpPr>
        <p:spPr>
          <a:xfrm>
            <a:off x="1252168" y="480669"/>
            <a:ext cx="1427390" cy="247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chemeClr val="accent1"/>
                </a:solidFill>
              </a:rPr>
              <a:t>www.uust.ru</a:t>
            </a:r>
            <a:endParaRPr lang="ru-RU" sz="1400" dirty="0">
              <a:solidFill>
                <a:schemeClr val="accent1"/>
              </a:solidFill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74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135E9-17CD-A496-82AB-4E7A75C9A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B920EC-162E-4E62-2958-5F4C22CB5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258017-D89D-7905-CAC2-4F05B3A2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A9E974-105B-67AD-6815-7C0B4C34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376FA0-0575-CCB6-C62C-655EF6C0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9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CB166-CAAD-D697-F52D-E27BAE3E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FE73CF-C20B-5875-3038-7827CE56E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165A60-F671-495F-B7FD-26F51172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4AAB1F-3E19-B19B-0031-A77DC6F7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CD1B37-09DE-CC21-BDC0-FCB19B25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982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37FFD-C2EE-CF2F-0AB0-65B5E284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A8041D-40EC-F51A-D557-DEE3EF023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8BB86C-F980-D3DA-7C5E-4A4C6E05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93A969-C66E-5F95-13B1-EA728653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0C8070-4C08-F76A-DF47-365865D1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921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F421FB-C637-1126-A0A6-6DC15A93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9BEA42-06ED-79FE-525B-016A893E7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4BF8E0-1300-8014-8F4A-4E131BCA0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06F7EF-280A-D801-60E4-F2071A37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119533-791F-BEE4-ACDD-CFF3BFB7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2C9157-F3A5-E8FC-CF0F-CB369E3D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297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21A11-6028-9249-BBD0-0B87FB065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C90FCE-740E-664F-D0EF-61A77BEC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0F3E89-28C1-1B08-42D6-94CE007A8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D40EBD-F981-A2D4-8BC0-9EC18EB73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BDCE42-CA83-7212-E15D-0796EDA63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A3B289-E7A5-BB30-A3E4-50D801AB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D8A2EA-DD67-2630-8213-246C1BB2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6CA683-9AD2-BB04-0EE4-09A15372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036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A5E82C-9048-6AAE-6CBB-015EE0BB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B721580-D18E-DB6B-0462-15109CCC1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4C242B-73DE-739D-3DD3-555A4E43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05CF51-8833-2C59-B941-A1BB581B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278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5C90D0C-991C-F312-FEFC-EC3F83F1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FF6EC8-5DE2-7A64-0DF3-1B155C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8A109F-9A51-6E61-2E14-5E9A474B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242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3E716-853C-3F28-4B91-CF90B41D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87C52-31C2-F8A0-FB9A-824A64F41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75462-4CCD-662C-F478-1E1435037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258C16-8844-B74B-20B6-CB43842A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4E3E71-0B1F-8316-7F51-186A2958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013AB9-4D10-AFEC-0BDB-4C9D32D4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2457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983B8-056D-5192-780E-DC02E2F7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E982E6A-3ECC-349A-D545-1338D3F27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7D82BE-FEF9-F178-F36D-9EDAF4212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FE6F3C-7D83-3AA3-78A8-9BDC1F44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E1D21A-DCFC-4688-0DF3-E71FF348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456564-DD4B-BC4E-C656-FD529D49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016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D29DA-69DE-876B-4B08-026B9D38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7F121A-4BC8-CAF9-F593-E7A088948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DBD7BE-BF25-6D3A-17EC-A7738948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5759A7-9723-45CE-4AA2-2A85279F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4D52D3-0FA7-7A2F-82C7-01F44263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328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ABBDF50-61FC-EB67-3EC5-88D853FDBB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696758-6BA8-0162-5096-0F5F8C974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31273C-67B6-C6E1-46BF-9D798FC8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94BFC-473B-4DDC-0164-38122B54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579523-9C44-1872-4FB0-1E88F579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2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01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0" r:id="rId2"/>
    <p:sldLayoutId id="2147483748" r:id="rId3"/>
    <p:sldLayoutId id="2147483741" r:id="rId4"/>
    <p:sldLayoutId id="2147483742" r:id="rId5"/>
    <p:sldLayoutId id="214748374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57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AEACB-A84F-A7D4-6E4B-A977A6E61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A5F1E1-903E-253E-D497-A93004E4E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8D9C75-00BF-A641-2EA6-C4EAE6C51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0F810-F093-493B-ADEF-9A5B43AE3121}" type="datetimeFigureOut">
              <a:rPr lang="ru-RU" smtClean="0"/>
              <a:pPr/>
              <a:t>08-04-2026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92F43-B447-2EDD-60B9-71A866F93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341C7C-B976-1D6F-D997-D178D9CBE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56DB9-BE8C-4DF9-B221-ED76A15B2CD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38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12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18856" y="334232"/>
            <a:ext cx="7931977" cy="969622"/>
          </a:xfrm>
          <a:prstGeom prst="rect">
            <a:avLst/>
          </a:prstGeom>
          <a:solidFill>
            <a:srgbClr val="5412D5"/>
          </a:solidFill>
        </p:spPr>
        <p:txBody>
          <a:bodyPr/>
          <a:lstStyle/>
          <a:p>
            <a:pPr algn="r"/>
            <a:r>
              <a:rPr lang="ru-RU" sz="2400" b="1" dirty="0"/>
              <a:t>Факультет математики и информационных технологий</a:t>
            </a:r>
            <a:br>
              <a:rPr lang="ru-RU" sz="2400" b="1" dirty="0"/>
            </a:br>
            <a:r>
              <a:rPr lang="ru-RU" sz="2400" b="1" dirty="0"/>
              <a:t>Кафедра математического моделирования</a:t>
            </a:r>
            <a:endParaRPr lang="ru-R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5655A-FEB6-FE92-3DA9-609DB80EFE48}"/>
              </a:ext>
            </a:extLst>
          </p:cNvPr>
          <p:cNvSpPr txBox="1"/>
          <p:nvPr/>
        </p:nvSpPr>
        <p:spPr>
          <a:xfrm>
            <a:off x="3483980" y="208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3BE1F-101F-0463-C58B-0D9914AEC433}"/>
              </a:ext>
            </a:extLst>
          </p:cNvPr>
          <p:cNvSpPr txBox="1"/>
          <p:nvPr/>
        </p:nvSpPr>
        <p:spPr>
          <a:xfrm>
            <a:off x="10370916" y="763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6D6375-9797-D8C0-0673-473B58029FD7}"/>
              </a:ext>
            </a:extLst>
          </p:cNvPr>
          <p:cNvSpPr txBox="1"/>
          <p:nvPr/>
        </p:nvSpPr>
        <p:spPr>
          <a:xfrm>
            <a:off x="3267856" y="29530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F771C-0259-7F70-3172-C1DE837CFDDA}"/>
              </a:ext>
            </a:extLst>
          </p:cNvPr>
          <p:cNvSpPr txBox="1"/>
          <p:nvPr/>
        </p:nvSpPr>
        <p:spPr>
          <a:xfrm>
            <a:off x="2878111" y="23684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B5579EF-5CD8-30BE-75D0-6AC260A525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100" y="4526320"/>
            <a:ext cx="2521866" cy="20449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236BEB-E6B7-4B44-A31B-4CD1DD12FEEC}"/>
              </a:ext>
            </a:extLst>
          </p:cNvPr>
          <p:cNvSpPr txBox="1"/>
          <p:nvPr/>
        </p:nvSpPr>
        <p:spPr>
          <a:xfrm>
            <a:off x="427983" y="2214149"/>
            <a:ext cx="11336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+mj-lt"/>
                <a:ea typeface="+mj-ea"/>
                <a:cs typeface="+mj-cs"/>
              </a:rPr>
              <a:t>Проект на тему </a:t>
            </a:r>
          </a:p>
          <a:p>
            <a:pPr algn="ctr"/>
            <a:r>
              <a:rPr lang="ru-RU" sz="2400" b="1" dirty="0">
                <a:latin typeface="+mj-lt"/>
                <a:ea typeface="+mj-ea"/>
                <a:cs typeface="+mj-cs"/>
              </a:rPr>
              <a:t>«Разработка мобильного приложения «Расписание факультета»»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A4CF5B-CA20-48B2-80A9-40F08B39AE41}"/>
              </a:ext>
            </a:extLst>
          </p:cNvPr>
          <p:cNvSpPr txBox="1"/>
          <p:nvPr/>
        </p:nvSpPr>
        <p:spPr>
          <a:xfrm>
            <a:off x="443691" y="3969223"/>
            <a:ext cx="89773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+mj-lt"/>
                <a:ea typeface="+mj-ea"/>
                <a:cs typeface="+mj-cs"/>
              </a:rPr>
              <a:t>Выполнил:</a:t>
            </a:r>
          </a:p>
          <a:p>
            <a:r>
              <a:rPr lang="ru-RU" sz="2000" b="1" dirty="0">
                <a:latin typeface="+mj-lt"/>
                <a:ea typeface="+mj-ea"/>
                <a:cs typeface="+mj-cs"/>
              </a:rPr>
              <a:t>Студент 2 курса очной формы обучения</a:t>
            </a:r>
          </a:p>
          <a:p>
            <a:r>
              <a:rPr lang="ru-RU" sz="2000" b="1" dirty="0">
                <a:latin typeface="+mj-lt"/>
                <a:ea typeface="+mj-ea"/>
                <a:cs typeface="+mj-cs"/>
              </a:rPr>
              <a:t>Направления подготовки 01.03.02 «Прикладная математика и информатика»</a:t>
            </a:r>
          </a:p>
          <a:p>
            <a:r>
              <a:rPr lang="ru-RU" sz="2000" b="1" dirty="0">
                <a:latin typeface="+mj-lt"/>
                <a:ea typeface="+mj-ea"/>
                <a:cs typeface="+mj-cs"/>
              </a:rPr>
              <a:t>Рахматов Светлан </a:t>
            </a:r>
            <a:r>
              <a:rPr lang="ru-RU" sz="2000" b="1" dirty="0" err="1">
                <a:latin typeface="+mj-lt"/>
                <a:ea typeface="+mj-ea"/>
                <a:cs typeface="+mj-cs"/>
              </a:rPr>
              <a:t>Рахматович</a:t>
            </a:r>
            <a:endParaRPr lang="ru-RU" sz="2000" b="1" dirty="0">
              <a:latin typeface="+mj-lt"/>
              <a:ea typeface="+mj-ea"/>
              <a:cs typeface="+mj-cs"/>
            </a:endParaRPr>
          </a:p>
          <a:p>
            <a:r>
              <a:rPr lang="ru-RU" sz="2000" b="1" dirty="0">
                <a:latin typeface="+mj-lt"/>
                <a:ea typeface="+mj-ea"/>
                <a:cs typeface="+mj-cs"/>
              </a:rPr>
              <a:t>Руководитель:</a:t>
            </a:r>
          </a:p>
          <a:p>
            <a:r>
              <a:rPr lang="ru-RU" sz="2000" b="1" dirty="0">
                <a:latin typeface="+mj-lt"/>
                <a:ea typeface="+mj-ea"/>
                <a:cs typeface="+mj-cs"/>
              </a:rPr>
              <a:t>Старший преподаватель</a:t>
            </a:r>
          </a:p>
          <a:p>
            <a:r>
              <a:rPr lang="ru-RU" sz="2000" b="1" dirty="0">
                <a:latin typeface="+mj-lt"/>
                <a:ea typeface="+mj-ea"/>
                <a:cs typeface="+mj-cs"/>
              </a:rPr>
              <a:t>Дмитриев Олег Васильевич</a:t>
            </a:r>
          </a:p>
          <a:p>
            <a:endParaRPr lang="ru-RU" sz="20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9497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F89966-3983-4779-8CC3-5D3F7C78733E}"/>
              </a:ext>
            </a:extLst>
          </p:cNvPr>
          <p:cNvSpPr txBox="1"/>
          <p:nvPr/>
        </p:nvSpPr>
        <p:spPr>
          <a:xfrm>
            <a:off x="906012" y="947955"/>
            <a:ext cx="10970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Цель работы – разработать мобильное приложение «Расписание»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A2D55-7992-4EC8-882D-8A932D22CB4A}"/>
              </a:ext>
            </a:extLst>
          </p:cNvPr>
          <p:cNvSpPr txBox="1"/>
          <p:nvPr/>
        </p:nvSpPr>
        <p:spPr>
          <a:xfrm>
            <a:off x="906012" y="1552971"/>
            <a:ext cx="805291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Задачи:</a:t>
            </a:r>
          </a:p>
          <a:p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1) Исследование среды разработки </a:t>
            </a:r>
            <a:r>
              <a:rPr lang="en-US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Android Studio</a:t>
            </a:r>
            <a:endParaRPr lang="ru-RU" sz="2800" b="1" dirty="0">
              <a:solidFill>
                <a:srgbClr val="5412D5"/>
              </a:solidFill>
              <a:latin typeface="Golos Text DemiBold" panose="020B0703020202020204" pitchFamily="34" charset="-52"/>
            </a:endParaRPr>
          </a:p>
          <a:p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2)Создание приложения «Расписание»</a:t>
            </a:r>
          </a:p>
          <a:p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3)Тестирование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19258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86087-839D-4A8C-8287-A49DE15663D7}"/>
              </a:ext>
            </a:extLst>
          </p:cNvPr>
          <p:cNvSpPr txBox="1"/>
          <p:nvPr/>
        </p:nvSpPr>
        <p:spPr>
          <a:xfrm>
            <a:off x="8430466" y="0"/>
            <a:ext cx="3761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 1.Интерфейс приложения</a:t>
            </a:r>
            <a:endParaRPr lang="ru-RU" sz="2400" b="1" i="1" dirty="0">
              <a:solidFill>
                <a:srgbClr val="FF0000"/>
              </a:solidFill>
              <a:latin typeface="Golos Text DemiBold" panose="020B0703020202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BC0F4-04C6-41B9-81F8-535CCDD2C382}"/>
              </a:ext>
            </a:extLst>
          </p:cNvPr>
          <p:cNvSpPr txBox="1"/>
          <p:nvPr/>
        </p:nvSpPr>
        <p:spPr>
          <a:xfrm>
            <a:off x="8430466" y="461665"/>
            <a:ext cx="3761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Для разработки интерфейса используются такие методы, как : </a:t>
            </a:r>
            <a:r>
              <a:rPr lang="en-US" sz="2400" b="1" i="1" dirty="0" err="1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RecyclerView</a:t>
            </a: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, </a:t>
            </a:r>
            <a:r>
              <a:rPr lang="en-US" sz="2400" b="1" i="1" dirty="0" err="1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ImageView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, а также </a:t>
            </a:r>
            <a:r>
              <a:rPr lang="en-US" sz="2400" b="1" i="1" dirty="0" err="1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TextView</a:t>
            </a: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.</a:t>
            </a:r>
            <a:endParaRPr lang="ru-RU" sz="2400" b="1" i="1" dirty="0">
              <a:solidFill>
                <a:schemeClr val="accent1">
                  <a:lumMod val="75000"/>
                </a:schemeClr>
              </a:solidFill>
              <a:latin typeface="Golos Text DemiBold" panose="020B0703020202020204" pitchFamily="34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E38A15-1FF7-4E3B-A150-48A47656A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47619" cy="6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6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A2FBB-2BC7-4DA8-BA27-AD4C300A9206}"/>
              </a:ext>
            </a:extLst>
          </p:cNvPr>
          <p:cNvSpPr txBox="1"/>
          <p:nvPr/>
        </p:nvSpPr>
        <p:spPr>
          <a:xfrm>
            <a:off x="5125194" y="6396335"/>
            <a:ext cx="6868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1 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шаг. Создание модели для метода </a:t>
            </a:r>
            <a:r>
              <a:rPr lang="en-US" sz="2400" b="1" i="1" dirty="0" err="1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RecyclerView</a:t>
            </a:r>
            <a:endParaRPr lang="ru-RU" sz="2400" b="1" i="1" dirty="0">
              <a:solidFill>
                <a:schemeClr val="accent1">
                  <a:lumMod val="75000"/>
                </a:schemeClr>
              </a:solidFill>
              <a:latin typeface="Golos Text DemiBold" panose="020B0703020202020204" pitchFamily="34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5387B4-131E-42E2-8739-7C6CD97E4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10" y="0"/>
            <a:ext cx="8877670" cy="5647498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A6F5BEC-666D-428F-91CF-B2C43C6FCBB5}"/>
              </a:ext>
            </a:extLst>
          </p:cNvPr>
          <p:cNvSpPr/>
          <p:nvPr/>
        </p:nvSpPr>
        <p:spPr>
          <a:xfrm>
            <a:off x="9827580" y="64337"/>
            <a:ext cx="23644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В данном случае модель – класс, который максимально абстрактно описывают некоторые объекты. В нашем случае - это группа </a:t>
            </a:r>
          </a:p>
        </p:txBody>
      </p:sp>
    </p:spTree>
    <p:extLst>
      <p:ext uri="{BB962C8B-B14F-4D97-AF65-F5344CB8AC3E}">
        <p14:creationId xmlns:p14="http://schemas.microsoft.com/office/powerpoint/2010/main" val="313969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8E996-CFE7-4676-B167-D2E77DB90C00}"/>
              </a:ext>
            </a:extLst>
          </p:cNvPr>
          <p:cNvSpPr txBox="1"/>
          <p:nvPr/>
        </p:nvSpPr>
        <p:spPr>
          <a:xfrm>
            <a:off x="4805779" y="6396335"/>
            <a:ext cx="7386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2</a:t>
            </a: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 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шаг. Создание адаптера для метода </a:t>
            </a:r>
            <a:r>
              <a:rPr lang="en-US" sz="2400" b="1" i="1" dirty="0" err="1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RecyclerView</a:t>
            </a:r>
            <a:endParaRPr lang="ru-RU" sz="2400" b="1" i="1" dirty="0">
              <a:solidFill>
                <a:schemeClr val="accent1">
                  <a:lumMod val="75000"/>
                </a:schemeClr>
              </a:solidFill>
              <a:latin typeface="Golos Text DemiBold" panose="020B0703020202020204" pitchFamily="34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71B3F3-C2A3-4535-857A-7BB83DDC3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57522" cy="603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6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8E996-CFE7-4676-B167-D2E77DB90C00}"/>
              </a:ext>
            </a:extLst>
          </p:cNvPr>
          <p:cNvSpPr txBox="1"/>
          <p:nvPr/>
        </p:nvSpPr>
        <p:spPr>
          <a:xfrm>
            <a:off x="7374385" y="6396335"/>
            <a:ext cx="4817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3</a:t>
            </a: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 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шаг. Вывод элементов на экран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3AA0B3-D59B-4C33-B16D-8FFF7EF52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904302" cy="601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1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8E996-CFE7-4676-B167-D2E77DB90C00}"/>
              </a:ext>
            </a:extLst>
          </p:cNvPr>
          <p:cNvSpPr txBox="1"/>
          <p:nvPr/>
        </p:nvSpPr>
        <p:spPr>
          <a:xfrm>
            <a:off x="5267418" y="6396335"/>
            <a:ext cx="6924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3</a:t>
            </a: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 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шаг. Вывод элементов на экран(продолжение)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C93C51-98D6-4F32-AADD-0AAB1DF73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39" y="2219"/>
            <a:ext cx="12192000" cy="529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78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8E996-CFE7-4676-B167-D2E77DB90C00}"/>
              </a:ext>
            </a:extLst>
          </p:cNvPr>
          <p:cNvSpPr txBox="1"/>
          <p:nvPr/>
        </p:nvSpPr>
        <p:spPr>
          <a:xfrm>
            <a:off x="7756125" y="6396335"/>
            <a:ext cx="4435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Создание анимации перехода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0A2D5F-6402-4260-924C-D5B66927B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4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78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8E996-CFE7-4676-B167-D2E77DB90C00}"/>
              </a:ext>
            </a:extLst>
          </p:cNvPr>
          <p:cNvSpPr txBox="1"/>
          <p:nvPr/>
        </p:nvSpPr>
        <p:spPr>
          <a:xfrm>
            <a:off x="7575550" y="0"/>
            <a:ext cx="443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Golos Text DemiBold" panose="020B0703020202020204" pitchFamily="34" charset="-52"/>
              </a:rPr>
              <a:t>Итоговое окно вывода приложения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9E6383E-5952-4D90-83A1-4FD431A8E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37" y="0"/>
            <a:ext cx="3095468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B607DE-7557-451A-B6EC-14751C85B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111" y="0"/>
            <a:ext cx="3275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7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ttps://habrastorage.org/getpro/habr/post_images/05e/231/8fc/05e2318fca479c32d3f2d638828727bc.jpg">
            <a:extLst>
              <a:ext uri="{FF2B5EF4-FFF2-40B4-BE49-F238E27FC236}">
                <a16:creationId xmlns:a16="http://schemas.microsoft.com/office/drawing/2014/main" id="{96E0F093-09A4-4F41-AF74-FAFEB0514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839F0-FE0A-4CC0-950E-A2B17B1548D2}"/>
              </a:ext>
            </a:extLst>
          </p:cNvPr>
          <p:cNvSpPr txBox="1"/>
          <p:nvPr/>
        </p:nvSpPr>
        <p:spPr>
          <a:xfrm>
            <a:off x="631779" y="246489"/>
            <a:ext cx="9911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  <a:cs typeface="Golos Text DemiBold" panose="020B0703020202020204" pitchFamily="34" charset="-52"/>
              </a:rPr>
              <a:t>Результаты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5412D5"/>
              </a:solidFill>
              <a:effectLst/>
              <a:uLnTx/>
              <a:uFillTx/>
              <a:latin typeface="Golos Text DemiBold" panose="020B0703020202020204" pitchFamily="34" charset="-52"/>
              <a:ea typeface="+mn-ea"/>
              <a:cs typeface="Golos Text DemiBold" panose="020B0703020202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6B1D2-D257-4886-B7A7-FBCDF100E3F3}"/>
              </a:ext>
            </a:extLst>
          </p:cNvPr>
          <p:cNvSpPr txBox="1"/>
          <p:nvPr/>
        </p:nvSpPr>
        <p:spPr>
          <a:xfrm>
            <a:off x="906012" y="1655064"/>
            <a:ext cx="112859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1)Ознакомление с новой средой разработки мобильных приложение было произведено успешно</a:t>
            </a:r>
          </a:p>
          <a:p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2)Было разработано удобное и привлекательное приложение с интерфейсом, также было уделено внимание на простоте навигации в самом приложении.</a:t>
            </a:r>
          </a:p>
          <a:p>
            <a:r>
              <a:rPr lang="ru-RU" sz="2800" b="1" dirty="0">
                <a:solidFill>
                  <a:srgbClr val="5412D5"/>
                </a:solidFill>
                <a:latin typeface="Golos Text DemiBold" panose="020B0703020202020204" pitchFamily="34" charset="-52"/>
              </a:rPr>
              <a:t>3)Проведено успешное  тестирование приложения. Были разработаны и выполнены соответствующие тестовые сценарии , что позволило проверить работу приложения в различных ситуациях и условиях</a:t>
            </a:r>
          </a:p>
        </p:txBody>
      </p:sp>
    </p:spTree>
    <p:extLst>
      <p:ext uri="{BB962C8B-B14F-4D97-AF65-F5344CB8AC3E}">
        <p14:creationId xmlns:p14="http://schemas.microsoft.com/office/powerpoint/2010/main" val="437072406"/>
      </p:ext>
    </p:extLst>
  </p:cSld>
  <p:clrMapOvr>
    <a:masterClrMapping/>
  </p:clrMapOvr>
</p:sld>
</file>

<file path=ppt/theme/theme1.xml><?xml version="1.0" encoding="utf-8"?>
<a:theme xmlns:a="http://schemas.openxmlformats.org/drawingml/2006/main" name="УУНиТ 1">
  <a:themeElements>
    <a:clrScheme name="УУНиТ">
      <a:dk1>
        <a:srgbClr val="2A1468"/>
      </a:dk1>
      <a:lt1>
        <a:srgbClr val="FFFFFF"/>
      </a:lt1>
      <a:dk2>
        <a:srgbClr val="CBB8FF"/>
      </a:dk2>
      <a:lt2>
        <a:srgbClr val="FFFFFF"/>
      </a:lt2>
      <a:accent1>
        <a:srgbClr val="4D19CC"/>
      </a:accent1>
      <a:accent2>
        <a:srgbClr val="C1F26B"/>
      </a:accent2>
      <a:accent3>
        <a:srgbClr val="FFA039"/>
      </a:accent3>
      <a:accent4>
        <a:srgbClr val="EA591F"/>
      </a:accent4>
      <a:accent5>
        <a:srgbClr val="F9D84B"/>
      </a:accent5>
      <a:accent6>
        <a:srgbClr val="00BC7D"/>
      </a:accent6>
      <a:hlink>
        <a:srgbClr val="4D19CC"/>
      </a:hlink>
      <a:folHlink>
        <a:srgbClr val="000000"/>
      </a:folHlink>
    </a:clrScheme>
    <a:fontScheme name="Golo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1" id="{A615A339-C75B-4587-A9E8-DA5BDFE9C088}" vid="{B02C648B-A09B-4000-B327-CE6C0337626D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УУНиТ">
      <a:dk1>
        <a:srgbClr val="2A1468"/>
      </a:dk1>
      <a:lt1>
        <a:srgbClr val="FFFFFF"/>
      </a:lt1>
      <a:dk2>
        <a:srgbClr val="CBB8FF"/>
      </a:dk2>
      <a:lt2>
        <a:srgbClr val="FFFFFF"/>
      </a:lt2>
      <a:accent1>
        <a:srgbClr val="4D19CC"/>
      </a:accent1>
      <a:accent2>
        <a:srgbClr val="C1F26B"/>
      </a:accent2>
      <a:accent3>
        <a:srgbClr val="FFA039"/>
      </a:accent3>
      <a:accent4>
        <a:srgbClr val="EA591F"/>
      </a:accent4>
      <a:accent5>
        <a:srgbClr val="F9D84B"/>
      </a:accent5>
      <a:accent6>
        <a:srgbClr val="00BC7D"/>
      </a:accent6>
      <a:hlink>
        <a:srgbClr val="4D19CC"/>
      </a:hlink>
      <a:folHlink>
        <a:srgbClr val="000000"/>
      </a:folHlink>
    </a:clrScheme>
    <a:fontScheme name="Golo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1" id="{A615A339-C75B-4587-A9E8-DA5BDFE9C088}" vid="{C5A3C8AA-1B50-4C59-8F53-1CAB7FD3619B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Презентация2</Template>
  <TotalTime>2081</TotalTime>
  <Words>218</Words>
  <Application>Microsoft Office PowerPoint</Application>
  <PresentationFormat>Широкоэкранный</PresentationFormat>
  <Paragraphs>28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Golos Text</vt:lpstr>
      <vt:lpstr>Golos Text DemiBold</vt:lpstr>
      <vt:lpstr>УУНиТ 1</vt:lpstr>
      <vt:lpstr>Специальное оформление</vt:lpstr>
      <vt:lpstr>Тема Office</vt:lpstr>
      <vt:lpstr>Факультет математики и информационных технологий Кафедра математического моделирования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Светлан Рахматов</cp:lastModifiedBy>
  <cp:revision>52</cp:revision>
  <dcterms:created xsi:type="dcterms:W3CDTF">2023-01-19T05:23:30Z</dcterms:created>
  <dcterms:modified xsi:type="dcterms:W3CDTF">2026-04-08T07:46:52Z</dcterms:modified>
</cp:coreProperties>
</file>