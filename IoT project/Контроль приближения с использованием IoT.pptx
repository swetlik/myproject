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97" r:id="rId3"/>
    <p:sldId id="299" r:id="rId4"/>
    <p:sldId id="300" r:id="rId5"/>
    <p:sldId id="301" r:id="rId6"/>
    <p:sldId id="302" r:id="rId7"/>
    <p:sldId id="295" r:id="rId8"/>
    <p:sldId id="293" r:id="rId9"/>
    <p:sldId id="280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A0"/>
    <a:srgbClr val="224098"/>
    <a:srgbClr val="20409A"/>
    <a:srgbClr val="263996"/>
    <a:srgbClr val="0F75BC"/>
    <a:srgbClr val="E5F6FF"/>
    <a:srgbClr val="D5F0FF"/>
    <a:srgbClr val="0086CE"/>
    <a:srgbClr val="008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71E5EC-C690-4321-BFDC-EB8B4AF3D82D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D50D60-8EDD-40C8-9123-E80E464978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gradFill>
          <a:gsLst>
            <a:gs pos="0">
              <a:srgbClr val="D5F0FF"/>
            </a:gs>
            <a:gs pos="100000">
              <a:schemeClr val="bg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ouses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44"/>
          <a:stretch/>
        </p:blipFill>
        <p:spPr>
          <a:xfrm>
            <a:off x="15512" y="3562656"/>
            <a:ext cx="12013582" cy="3295344"/>
          </a:xfrm>
          <a:prstGeom prst="rect">
            <a:avLst/>
          </a:prstGeom>
        </p:spPr>
      </p:pic>
      <p:sp>
        <p:nvSpPr>
          <p:cNvPr id="5" name="Нижний колонтитул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7FF-FE66-4EA7-AA30-EF9B58C5C9E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Header"/>
          <p:cNvSpPr>
            <a:spLocks noGrp="1"/>
          </p:cNvSpPr>
          <p:nvPr>
            <p:ph type="title" hasCustomPrompt="1"/>
          </p:nvPr>
        </p:nvSpPr>
        <p:spPr>
          <a:xfrm>
            <a:off x="4366819" y="2760335"/>
            <a:ext cx="7607531" cy="1325563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defRPr sz="4000" b="1" baseline="0">
                <a:solidFill>
                  <a:srgbClr val="263996"/>
                </a:solidFill>
                <a:latin typeface="+mn-lt"/>
              </a:defRPr>
            </a:lvl1pPr>
          </a:lstStyle>
          <a:p>
            <a:r>
              <a:rPr lang="ru-RU" dirty="0">
                <a:latin typeface="+mn-lt"/>
              </a:rPr>
              <a:t>ФИНАЛ КОНКУРСА ПРОЕКТОВ 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2020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0118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Houses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444"/>
          <a:stretch/>
        </p:blipFill>
        <p:spPr>
          <a:xfrm>
            <a:off x="15512" y="3562656"/>
            <a:ext cx="12013582" cy="3295344"/>
          </a:xfrm>
          <a:prstGeom prst="rect">
            <a:avLst/>
          </a:prstGeom>
        </p:spPr>
      </p:pic>
      <p:sp>
        <p:nvSpPr>
          <p:cNvPr id="4" name="Дата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8A77A7-5580-4153-9C78-E0FD3ECD1847}" type="datetime1">
              <a:rPr lang="ru-RU" smtClean="0"/>
              <a:t>21.06.2024</a:t>
            </a:fld>
            <a:endParaRPr lang="ru-RU"/>
          </a:p>
        </p:txBody>
      </p:sp>
      <p:sp>
        <p:nvSpPr>
          <p:cNvPr id="5" name="Нижний колонтитул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7FF-FE66-4EA7-AA30-EF9B58C5C9E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Header"/>
          <p:cNvSpPr>
            <a:spLocks noGrp="1"/>
          </p:cNvSpPr>
          <p:nvPr>
            <p:ph type="title" hasCustomPrompt="1"/>
          </p:nvPr>
        </p:nvSpPr>
        <p:spPr>
          <a:xfrm>
            <a:off x="545869" y="285989"/>
            <a:ext cx="8789517" cy="399811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80000"/>
              </a:lnSpc>
              <a:defRPr sz="2800" b="1">
                <a:solidFill>
                  <a:srgbClr val="263996"/>
                </a:solidFill>
                <a:latin typeface="+mn-lt"/>
              </a:defRPr>
            </a:lvl1pPr>
          </a:lstStyle>
          <a:p>
            <a:r>
              <a:rPr lang="ru-RU" dirty="0">
                <a:latin typeface="+mn-lt"/>
              </a:rPr>
              <a:t>Заголовок</a:t>
            </a:r>
            <a:endParaRPr lang="ru-RU" dirty="0"/>
          </a:p>
        </p:txBody>
      </p:sp>
      <p:sp>
        <p:nvSpPr>
          <p:cNvPr id="12" name="Decor"/>
          <p:cNvSpPr/>
          <p:nvPr userDrawn="1"/>
        </p:nvSpPr>
        <p:spPr>
          <a:xfrm rot="5400000">
            <a:off x="9142050" y="-1901906"/>
            <a:ext cx="36000" cy="5400000"/>
          </a:xfrm>
          <a:prstGeom prst="rect">
            <a:avLst/>
          </a:prstGeom>
          <a:gradFill>
            <a:gsLst>
              <a:gs pos="0">
                <a:srgbClr val="263996"/>
              </a:gs>
              <a:gs pos="100000">
                <a:srgbClr val="008BD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9" name="Decor"/>
          <p:cNvSpPr/>
          <p:nvPr userDrawn="1"/>
        </p:nvSpPr>
        <p:spPr>
          <a:xfrm rot="5400000">
            <a:off x="1190569" y="438094"/>
            <a:ext cx="36000" cy="720000"/>
          </a:xfrm>
          <a:prstGeom prst="rect">
            <a:avLst/>
          </a:prstGeom>
          <a:solidFill>
            <a:srgbClr val="008BD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Decor"/>
          <p:cNvSpPr/>
          <p:nvPr userDrawn="1"/>
        </p:nvSpPr>
        <p:spPr>
          <a:xfrm>
            <a:off x="-116423" y="2050473"/>
            <a:ext cx="12192000" cy="4807527"/>
          </a:xfrm>
          <a:prstGeom prst="rect">
            <a:avLst/>
          </a:prstGeom>
          <a:solidFill>
            <a:schemeClr val="bg1">
              <a:alpha val="8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Decor"/>
          <p:cNvSpPr/>
          <p:nvPr userDrawn="1"/>
        </p:nvSpPr>
        <p:spPr>
          <a:xfrm>
            <a:off x="1568569" y="694392"/>
            <a:ext cx="207403" cy="207403"/>
          </a:xfrm>
          <a:prstGeom prst="ellipse">
            <a:avLst/>
          </a:prstGeom>
          <a:noFill/>
          <a:ln w="25400">
            <a:solidFill>
              <a:srgbClr val="0086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7" name="Decor"/>
          <p:cNvSpPr/>
          <p:nvPr userDrawn="1"/>
        </p:nvSpPr>
        <p:spPr>
          <a:xfrm>
            <a:off x="6252647" y="694391"/>
            <a:ext cx="207403" cy="207403"/>
          </a:xfrm>
          <a:prstGeom prst="ellipse">
            <a:avLst/>
          </a:prstGeom>
          <a:noFill/>
          <a:ln w="25400">
            <a:solidFill>
              <a:srgbClr val="0086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Decor"/>
          <p:cNvSpPr/>
          <p:nvPr userDrawn="1"/>
        </p:nvSpPr>
        <p:spPr>
          <a:xfrm>
            <a:off x="647715" y="694390"/>
            <a:ext cx="207403" cy="207403"/>
          </a:xfrm>
          <a:prstGeom prst="ellipse">
            <a:avLst/>
          </a:prstGeom>
          <a:noFill/>
          <a:ln w="25400">
            <a:solidFill>
              <a:srgbClr val="0086C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524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02623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03D7FF-FE66-4EA7-AA30-EF9B58C5C9E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747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5F6FF"/>
            </a:gs>
            <a:gs pos="100000">
              <a:schemeClr val="bg1"/>
            </a:gs>
          </a:gsLst>
          <a:lin ang="4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349886" y="1905202"/>
            <a:ext cx="7607531" cy="3476695"/>
          </a:xfrm>
        </p:spPr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ravek" panose="020B0503040000020004" pitchFamily="34" charset="0"/>
              </a:rPr>
              <a:t>Контроль приближения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ravek" panose="020B0503040000020004" pitchFamily="34" charset="0"/>
              </a:rPr>
              <a:t> </a:t>
            </a:r>
            <a:r>
              <a:rPr lang="ru-RU" dirty="0">
                <a:solidFill>
                  <a:schemeClr val="tx2">
                    <a:lumMod val="75000"/>
                  </a:schemeClr>
                </a:solidFill>
              </a:rPr>
              <a:t>с использованием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IoT</a:t>
            </a:r>
            <a:br>
              <a:rPr lang="ru-RU" dirty="0">
                <a:solidFill>
                  <a:schemeClr val="tx2">
                    <a:lumMod val="75000"/>
                  </a:schemeClr>
                </a:solidFill>
                <a:latin typeface="+mn-lt"/>
              </a:rPr>
            </a:br>
            <a:endParaRPr lang="ru-RU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982B24E-A609-438C-B68A-2305BBF5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7FF-FE66-4EA7-AA30-EF9B58C5C9E3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3832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D81797-DAF2-4542-9388-7E45AD63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7FF-FE66-4EA7-AA30-EF9B58C5C9E3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AD7D6D0-3ECB-48F8-BF17-8F6D3600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0C635-EAAA-4DE3-9152-069796FFBF08}"/>
              </a:ext>
            </a:extLst>
          </p:cNvPr>
          <p:cNvSpPr txBox="1"/>
          <p:nvPr/>
        </p:nvSpPr>
        <p:spPr>
          <a:xfrm>
            <a:off x="291558" y="1451295"/>
            <a:ext cx="1168792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	Проект "Контроль приближения" разрабатывался для мониторинга перемещения объектов с использованием </a:t>
            </a:r>
            <a:r>
              <a:rPr lang="ru-RU" sz="2400" dirty="0" err="1"/>
              <a:t>Bluetooth</a:t>
            </a:r>
            <a:r>
              <a:rPr lang="ru-RU" sz="2400" dirty="0"/>
              <a:t> маячков. Основной компонент проекта — маячок JDY-24M, который работает в тандеме со сканером для передачи данных. Проект включает в себя отправку уведомлений телеграмм боту, информирующих о расстоянии до маячка. Система использует GSM модуль для подключения к интернету и платформу </a:t>
            </a:r>
            <a:r>
              <a:rPr lang="ru-RU" sz="2400" dirty="0" err="1"/>
              <a:t>Rightech</a:t>
            </a:r>
            <a:r>
              <a:rPr lang="ru-RU" sz="2400" dirty="0"/>
              <a:t> для обработки данных, получаемых от сканера. Данные, такие как MAC-адреса и уровень сигнала, сохраняются в облаке, что позволяет в реальном времени отслеживать местоположение объектов.</a:t>
            </a:r>
            <a:endParaRPr lang="ru-RU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067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D81797-DAF2-4542-9388-7E45AD63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7FF-FE66-4EA7-AA30-EF9B58C5C9E3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AD7D6D0-3ECB-48F8-BF17-8F6D3600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0C635-EAAA-4DE3-9152-069796FFBF08}"/>
              </a:ext>
            </a:extLst>
          </p:cNvPr>
          <p:cNvSpPr txBox="1"/>
          <p:nvPr/>
        </p:nvSpPr>
        <p:spPr>
          <a:xfrm>
            <a:off x="291558" y="1451295"/>
            <a:ext cx="116879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/>
              <a:t>Мониторинг перемещения объектов</a:t>
            </a:r>
            <a:r>
              <a:rPr lang="ru-RU" altLang="ru-RU" sz="2400" dirty="0"/>
              <a:t>: Создание системы, позволяющей отслеживать перемещение объектов в режиме реального времени с использованием </a:t>
            </a:r>
            <a:r>
              <a:rPr lang="ru-RU" altLang="ru-RU" sz="2400" dirty="0" err="1"/>
              <a:t>Bluetooth</a:t>
            </a:r>
            <a:r>
              <a:rPr lang="ru-RU" altLang="ru-RU" sz="2400" dirty="0"/>
              <a:t> маячков.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/>
              <a:t>Уведомления в режиме реального времени</a:t>
            </a:r>
            <a:r>
              <a:rPr lang="ru-RU" altLang="ru-RU" sz="2400" dirty="0"/>
              <a:t>: Обеспечение мгновенного уведомления через телеграмм бот при изменении расстояния до маячка.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/>
              <a:t>Интеграция с облаком</a:t>
            </a:r>
            <a:r>
              <a:rPr lang="ru-RU" altLang="ru-RU" sz="2400" dirty="0"/>
              <a:t>: Сохранение и обработка данных в облаке для анализа и последующего использования.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/>
              <a:t>Высокая точность и надежность</a:t>
            </a:r>
            <a:r>
              <a:rPr lang="ru-RU" altLang="ru-RU" sz="2400" dirty="0"/>
              <a:t>: Достижение высокой точности определения местоположения и надежности передачи данных.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sz="2400" b="1" dirty="0"/>
              <a:t>Автономная работа</a:t>
            </a:r>
            <a:r>
              <a:rPr lang="ru-RU" altLang="ru-RU" sz="2400" dirty="0"/>
              <a:t>: Использование портативных зарядных устройств или аккумуляторов для обеспечения автономной работы системы. </a:t>
            </a:r>
          </a:p>
          <a:p>
            <a:endParaRPr lang="ru-RU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15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D81797-DAF2-4542-9388-7E45AD63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7FF-FE66-4EA7-AA30-EF9B58C5C9E3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AD7D6D0-3ECB-48F8-BF17-8F6D3600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технологии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80C635-EAAA-4DE3-9152-069796FFBF08}"/>
              </a:ext>
            </a:extLst>
          </p:cNvPr>
          <p:cNvSpPr txBox="1"/>
          <p:nvPr/>
        </p:nvSpPr>
        <p:spPr>
          <a:xfrm>
            <a:off x="282680" y="1048600"/>
            <a:ext cx="80356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b="1" dirty="0"/>
              <a:t> </a:t>
            </a:r>
            <a:r>
              <a:rPr lang="ru-RU" b="1" dirty="0" err="1"/>
              <a:t>Bluetooth</a:t>
            </a:r>
            <a:r>
              <a:rPr lang="ru-RU" b="1" dirty="0"/>
              <a:t> маячки JDY-24M</a:t>
            </a:r>
            <a:r>
              <a:rPr lang="ru-RU" dirty="0"/>
              <a:t>: Основной компонент системы,                использующийся для определения близости объектов.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pic>
        <p:nvPicPr>
          <p:cNvPr id="6" name="Picture 9" descr="tmpc05z5f4w.png">
            <a:extLst>
              <a:ext uri="{FF2B5EF4-FFF2-40B4-BE49-F238E27FC236}">
                <a16:creationId xmlns:a16="http://schemas.microsoft.com/office/drawing/2014/main" id="{74DAF8A8-ABC8-41EB-801D-9AFFFEEE8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550" y="861329"/>
            <a:ext cx="3463769" cy="194996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softEdge rad="12700"/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21402ED-3659-4980-AC91-A8EFECED849F}"/>
              </a:ext>
            </a:extLst>
          </p:cNvPr>
          <p:cNvSpPr/>
          <p:nvPr/>
        </p:nvSpPr>
        <p:spPr>
          <a:xfrm>
            <a:off x="282681" y="1824368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b="1" dirty="0"/>
              <a:t>GSM модуль SIM900</a:t>
            </a:r>
            <a:r>
              <a:rPr lang="ru-RU" dirty="0"/>
              <a:t>: Обеспечивает связь с интернетом для передачи данных.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9E72645-7F0B-4E3E-86AE-EB58619AF87E}"/>
              </a:ext>
            </a:extLst>
          </p:cNvPr>
          <p:cNvSpPr txBox="1">
            <a:spLocks/>
          </p:cNvSpPr>
          <p:nvPr/>
        </p:nvSpPr>
        <p:spPr>
          <a:xfrm>
            <a:off x="282681" y="2565238"/>
            <a:ext cx="6293530" cy="7823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1F7D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tx1"/>
                </a:solidFill>
                <a:latin typeface="+mn-lt"/>
              </a:rPr>
              <a:t>Облачная платформа </a:t>
            </a:r>
            <a:r>
              <a:rPr lang="ru-RU" sz="1800" b="1" dirty="0" err="1">
                <a:solidFill>
                  <a:schemeClr val="tx1"/>
                </a:solidFill>
                <a:latin typeface="+mn-lt"/>
              </a:rPr>
              <a:t>Rightech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: Используется для хранения и обработки данных, поступающих от сканера.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BA976C9-5BAA-48AB-A215-3A8C203A8A03}"/>
              </a:ext>
            </a:extLst>
          </p:cNvPr>
          <p:cNvSpPr txBox="1">
            <a:spLocks/>
          </p:cNvSpPr>
          <p:nvPr/>
        </p:nvSpPr>
        <p:spPr>
          <a:xfrm>
            <a:off x="282681" y="3442146"/>
            <a:ext cx="9826843" cy="7161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1F7D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tx1"/>
                </a:solidFill>
                <a:latin typeface="+mn-lt"/>
              </a:rPr>
              <a:t>Плата </a:t>
            </a:r>
            <a:r>
              <a:rPr lang="ru-RU" sz="1800" b="1" dirty="0" err="1">
                <a:solidFill>
                  <a:schemeClr val="tx1"/>
                </a:solidFill>
                <a:latin typeface="+mn-lt"/>
              </a:rPr>
              <a:t>Mega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: Контроллер для управления и координации работы всех компонентов.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9DF7C6-AA0F-49E1-967D-E63A0C2A6EA8}"/>
              </a:ext>
            </a:extLst>
          </p:cNvPr>
          <p:cNvSpPr txBox="1">
            <a:spLocks/>
          </p:cNvSpPr>
          <p:nvPr/>
        </p:nvSpPr>
        <p:spPr>
          <a:xfrm>
            <a:off x="282680" y="4252812"/>
            <a:ext cx="9826843" cy="5634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1F7D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tx1"/>
                </a:solidFill>
                <a:latin typeface="+mn-lt"/>
              </a:rPr>
              <a:t>UART интерфейс: </a:t>
            </a:r>
            <a:r>
              <a:rPr lang="ru-RU" sz="1800" dirty="0">
                <a:solidFill>
                  <a:schemeClr val="tx1"/>
                </a:solidFill>
                <a:latin typeface="+mn-lt"/>
              </a:rPr>
              <a:t>Используется для коммуникации между микроконтроллером и GSM модулем.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BFA359E-F64A-4345-9736-46F52D739763}"/>
              </a:ext>
            </a:extLst>
          </p:cNvPr>
          <p:cNvSpPr txBox="1">
            <a:spLocks/>
          </p:cNvSpPr>
          <p:nvPr/>
        </p:nvSpPr>
        <p:spPr>
          <a:xfrm>
            <a:off x="282680" y="4975472"/>
            <a:ext cx="3946866" cy="391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1F7D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tx1"/>
                </a:solidFill>
                <a:latin typeface="+mn-lt"/>
              </a:rPr>
              <a:t>Энергоснабжение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CBB54BB-6814-400E-AF5B-90C849423268}"/>
              </a:ext>
            </a:extLst>
          </p:cNvPr>
          <p:cNvSpPr txBox="1">
            <a:spLocks/>
          </p:cNvSpPr>
          <p:nvPr/>
        </p:nvSpPr>
        <p:spPr>
          <a:xfrm>
            <a:off x="282680" y="5525860"/>
            <a:ext cx="3946866" cy="3911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FF1F7D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1800" b="1" dirty="0">
                <a:solidFill>
                  <a:schemeClr val="tx1"/>
                </a:solidFill>
                <a:latin typeface="+mn-lt"/>
              </a:rPr>
              <a:t>Телеграмм бот</a:t>
            </a:r>
          </a:p>
        </p:txBody>
      </p:sp>
    </p:spTree>
    <p:extLst>
      <p:ext uri="{BB962C8B-B14F-4D97-AF65-F5344CB8AC3E}">
        <p14:creationId xmlns:p14="http://schemas.microsoft.com/office/powerpoint/2010/main" val="681907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D81797-DAF2-4542-9388-7E45AD63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7FF-FE66-4EA7-AA30-EF9B58C5C9E3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AD7D6D0-3ECB-48F8-BF17-8F6D3600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системы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E9F9C8D-9DED-4E24-A548-6EA7E5C45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013" y="1180385"/>
            <a:ext cx="6468378" cy="112410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74CD82-14E5-4A0C-8F17-7BBFBE3AB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8132" y="2546072"/>
            <a:ext cx="8415736" cy="356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407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AD81797-DAF2-4542-9388-7E45AD638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7FF-FE66-4EA7-AA30-EF9B58C5C9E3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BAD7D6D0-3ECB-48F8-BF17-8F6D36009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Преимущества проекта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020417F-EBA4-43BD-934C-B6D250B36632}"/>
              </a:ext>
            </a:extLst>
          </p:cNvPr>
          <p:cNvSpPr txBox="1">
            <a:spLocks/>
          </p:cNvSpPr>
          <p:nvPr/>
        </p:nvSpPr>
        <p:spPr>
          <a:xfrm>
            <a:off x="471254" y="1409330"/>
            <a:ext cx="8291005" cy="403934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b="1" dirty="0">
                <a:solidFill>
                  <a:schemeClr val="tx1"/>
                </a:solidFill>
              </a:rPr>
              <a:t>Низкая стоимость проекта: </a:t>
            </a:r>
            <a:r>
              <a:rPr lang="ru-RU" sz="2000" dirty="0">
                <a:solidFill>
                  <a:schemeClr val="tx1"/>
                </a:solidFill>
              </a:rPr>
              <a:t>Экономичное решение снижает затраты и делает продукт доступным для широкого круга потребителей</a:t>
            </a:r>
          </a:p>
          <a:p>
            <a:r>
              <a:rPr lang="ru-RU" sz="2000" b="1" dirty="0">
                <a:solidFill>
                  <a:schemeClr val="tx1"/>
                </a:solidFill>
              </a:rPr>
              <a:t>Легкость установки: </a:t>
            </a:r>
            <a:r>
              <a:rPr lang="ru-RU" sz="2000" dirty="0">
                <a:solidFill>
                  <a:schemeClr val="tx1"/>
                </a:solidFill>
              </a:rPr>
              <a:t>Простая схема монтажа повышает удобство использования и экономит время на внедрении системы</a:t>
            </a:r>
          </a:p>
          <a:p>
            <a:r>
              <a:rPr lang="ru-RU" sz="2000" b="1" dirty="0">
                <a:solidFill>
                  <a:schemeClr val="tx1"/>
                </a:solidFill>
              </a:rPr>
              <a:t>Гибкость системы: </a:t>
            </a:r>
            <a:r>
              <a:rPr lang="ru-RU" sz="2000" dirty="0">
                <a:solidFill>
                  <a:schemeClr val="tx1"/>
                </a:solidFill>
              </a:rPr>
              <a:t>Возможность модернизации и расширения функционала позволяет адаптировать продукт под разные потребности</a:t>
            </a:r>
          </a:p>
        </p:txBody>
      </p:sp>
    </p:spTree>
    <p:extLst>
      <p:ext uri="{BB962C8B-B14F-4D97-AF65-F5344CB8AC3E}">
        <p14:creationId xmlns:p14="http://schemas.microsoft.com/office/powerpoint/2010/main" val="3205521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0BFD713-9AD6-4D2F-89F2-86E5CFBE4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Аналоги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CACF3D-7A25-4720-BE64-936D17A60342}"/>
              </a:ext>
            </a:extLst>
          </p:cNvPr>
          <p:cNvSpPr txBox="1"/>
          <p:nvPr/>
        </p:nvSpPr>
        <p:spPr>
          <a:xfrm>
            <a:off x="545871" y="1189737"/>
            <a:ext cx="3502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cs typeface="Times New Roman" panose="02020603050405020304" pitchFamily="18" charset="0"/>
              </a:rPr>
              <a:t>Beacons </a:t>
            </a:r>
            <a:r>
              <a:rPr lang="ru-RU" sz="2400" b="1" dirty="0">
                <a:cs typeface="Times New Roman" panose="02020603050405020304" pitchFamily="18" charset="0"/>
              </a:rPr>
              <a:t>от </a:t>
            </a:r>
            <a:r>
              <a:rPr lang="en-US" sz="2400" b="1" dirty="0">
                <a:cs typeface="Times New Roman" panose="02020603050405020304" pitchFamily="18" charset="0"/>
              </a:rPr>
              <a:t>Kontakt.io:</a:t>
            </a:r>
            <a:endParaRPr lang="ru-RU" sz="2400" b="1" dirty="0"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E66E0F-275A-4866-A4E7-2D2E7A5FE84C}"/>
              </a:ext>
            </a:extLst>
          </p:cNvPr>
          <p:cNvSpPr txBox="1"/>
          <p:nvPr/>
        </p:nvSpPr>
        <p:spPr>
          <a:xfrm>
            <a:off x="545871" y="1678165"/>
            <a:ext cx="64592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Kontakt.io предлагает компактные </a:t>
            </a:r>
            <a:r>
              <a:rPr lang="ru-RU" dirty="0" err="1">
                <a:cs typeface="Times New Roman" panose="02020603050405020304" pitchFamily="18" charset="0"/>
              </a:rPr>
              <a:t>Bluetooth</a:t>
            </a:r>
            <a:r>
              <a:rPr lang="ru-RU" dirty="0">
                <a:cs typeface="Times New Roman" panose="02020603050405020304" pitchFamily="18" charset="0"/>
              </a:rPr>
              <a:t> маячки (</a:t>
            </a:r>
            <a:r>
              <a:rPr lang="ru-RU" dirty="0" err="1">
                <a:cs typeface="Times New Roman" panose="02020603050405020304" pitchFamily="18" charset="0"/>
              </a:rPr>
              <a:t>beacons</a:t>
            </a:r>
            <a:r>
              <a:rPr lang="ru-RU" dirty="0">
                <a:cs typeface="Times New Roman" panose="02020603050405020304" pitchFamily="18" charset="0"/>
              </a:rPr>
              <a:t>), которые могут использоваться для контроля приближения и мониторинга местоположения в реальном времени.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D89A132A-2FC2-4384-9FC4-22B56D766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058" y="1100465"/>
            <a:ext cx="2266767" cy="144821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87872DE-8D63-4173-A7B9-9AC611A0BD77}"/>
              </a:ext>
            </a:extLst>
          </p:cNvPr>
          <p:cNvSpPr txBox="1"/>
          <p:nvPr/>
        </p:nvSpPr>
        <p:spPr>
          <a:xfrm>
            <a:off x="545871" y="2648556"/>
            <a:ext cx="3502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cs typeface="Times New Roman" panose="02020603050405020304" pitchFamily="18" charset="0"/>
              </a:rPr>
              <a:t>AirTag</a:t>
            </a:r>
            <a:r>
              <a:rPr lang="en-US" sz="2400" b="1" dirty="0">
                <a:cs typeface="Times New Roman" panose="02020603050405020304" pitchFamily="18" charset="0"/>
              </a:rPr>
              <a:t> </a:t>
            </a:r>
            <a:r>
              <a:rPr lang="ru-RU" sz="2400" b="1" dirty="0">
                <a:cs typeface="Times New Roman" panose="02020603050405020304" pitchFamily="18" charset="0"/>
              </a:rPr>
              <a:t>от </a:t>
            </a:r>
            <a:r>
              <a:rPr lang="en-US" sz="2400" b="1" dirty="0">
                <a:cs typeface="Times New Roman" panose="02020603050405020304" pitchFamily="18" charset="0"/>
              </a:rPr>
              <a:t>Apple</a:t>
            </a:r>
            <a:r>
              <a:rPr lang="ru-RU" sz="2400" b="1" dirty="0"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345CC-915F-44C8-8458-A054E0EEA35A}"/>
              </a:ext>
            </a:extLst>
          </p:cNvPr>
          <p:cNvSpPr txBox="1"/>
          <p:nvPr/>
        </p:nvSpPr>
        <p:spPr>
          <a:xfrm>
            <a:off x="545871" y="3154609"/>
            <a:ext cx="64592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cs typeface="Times New Roman" panose="02020603050405020304" pitchFamily="18" charset="0"/>
              </a:rPr>
              <a:t>Это </a:t>
            </a:r>
            <a:r>
              <a:rPr lang="ru-RU" dirty="0" err="1">
                <a:cs typeface="Times New Roman" panose="02020603050405020304" pitchFamily="18" charset="0"/>
              </a:rPr>
              <a:t>Bluetooth</a:t>
            </a:r>
            <a:r>
              <a:rPr lang="ru-RU" dirty="0">
                <a:cs typeface="Times New Roman" panose="02020603050405020304" pitchFamily="18" charset="0"/>
              </a:rPr>
              <a:t> маячок, который предназначен для отслеживания и нахождения потерянных предметов с помощью технологии </a:t>
            </a:r>
            <a:r>
              <a:rPr lang="ru-RU" dirty="0" err="1">
                <a:cs typeface="Times New Roman" panose="02020603050405020304" pitchFamily="18" charset="0"/>
              </a:rPr>
              <a:t>Find</a:t>
            </a:r>
            <a:r>
              <a:rPr lang="ru-RU" dirty="0">
                <a:cs typeface="Times New Roman" panose="02020603050405020304" pitchFamily="18" charset="0"/>
              </a:rPr>
              <a:t> </a:t>
            </a:r>
            <a:r>
              <a:rPr lang="ru-RU" dirty="0" err="1">
                <a:cs typeface="Times New Roman" panose="02020603050405020304" pitchFamily="18" charset="0"/>
              </a:rPr>
              <a:t>My</a:t>
            </a:r>
            <a:r>
              <a:rPr lang="ru-RU" dirty="0"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48156E26-DF4E-4CFE-BF75-71CDFA605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057" y="2745055"/>
            <a:ext cx="2266767" cy="13328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4BD115A-F2F0-468F-AF15-BBB326D4FFA0}"/>
              </a:ext>
            </a:extLst>
          </p:cNvPr>
          <p:cNvSpPr txBox="1"/>
          <p:nvPr/>
        </p:nvSpPr>
        <p:spPr>
          <a:xfrm>
            <a:off x="545869" y="4245098"/>
            <a:ext cx="3502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cs typeface="Times New Roman" panose="02020603050405020304" pitchFamily="18" charset="0"/>
              </a:rPr>
              <a:t>Sensormatic</a:t>
            </a:r>
            <a:r>
              <a:rPr lang="en-US" sz="2400" b="1" dirty="0">
                <a:cs typeface="Times New Roman" panose="02020603050405020304" pitchFamily="18" charset="0"/>
              </a:rPr>
              <a:t> RFID</a:t>
            </a:r>
            <a:r>
              <a:rPr lang="ru-RU" sz="2400" b="1" dirty="0"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D51504-8E88-4430-A0F8-0C8CFED282CF}"/>
              </a:ext>
            </a:extLst>
          </p:cNvPr>
          <p:cNvSpPr txBox="1"/>
          <p:nvPr/>
        </p:nvSpPr>
        <p:spPr>
          <a:xfrm>
            <a:off x="545869" y="4795539"/>
            <a:ext cx="64592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cs typeface="Times New Roman" panose="02020603050405020304" pitchFamily="18" charset="0"/>
              </a:rPr>
              <a:t>Sensormatic</a:t>
            </a:r>
            <a:r>
              <a:rPr lang="ru-RU" dirty="0">
                <a:cs typeface="Times New Roman" panose="02020603050405020304" pitchFamily="18" charset="0"/>
              </a:rPr>
              <a:t> предоставляет решения для отслеживания активов, использующие RFID и </a:t>
            </a:r>
            <a:r>
              <a:rPr lang="ru-RU" dirty="0" err="1">
                <a:cs typeface="Times New Roman" panose="02020603050405020304" pitchFamily="18" charset="0"/>
              </a:rPr>
              <a:t>Bluetooth</a:t>
            </a:r>
            <a:r>
              <a:rPr lang="ru-RU" dirty="0">
                <a:cs typeface="Times New Roman" panose="02020603050405020304" pitchFamily="18" charset="0"/>
              </a:rPr>
              <a:t> технологии. Они предоставляют возможности для интеграции с облачными сервисами и передачи данных о местоположении.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15D9318-4250-40C7-95D3-5352C0C53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058" y="4328390"/>
            <a:ext cx="1991675" cy="19916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73776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E3BB1-A927-443B-A253-7A17650B9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Потенциальные потребители и применение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22C60F-B834-4E8E-AE4D-B9A14D6C3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7FF-FE66-4EA7-AA30-EF9B58C5C9E3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209B17-FEAB-4FEF-BCE9-D6639E38A8B1}"/>
              </a:ext>
            </a:extLst>
          </p:cNvPr>
          <p:cNvSpPr txBox="1"/>
          <p:nvPr/>
        </p:nvSpPr>
        <p:spPr>
          <a:xfrm>
            <a:off x="719091" y="1354239"/>
            <a:ext cx="1013829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cs typeface="Times New Roman" panose="02020603050405020304" pitchFamily="18" charset="0"/>
              </a:rPr>
              <a:t>Наш проект "Контроль приближения" может заинтересовать широкий круг пользователей, включая: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Логистические компании и склады</a:t>
            </a:r>
            <a:r>
              <a:rPr lang="ru-RU" sz="2400" dirty="0">
                <a:cs typeface="Times New Roman" panose="02020603050405020304" pitchFamily="18" charset="0"/>
              </a:rPr>
              <a:t>: </a:t>
            </a:r>
          </a:p>
          <a:p>
            <a:r>
              <a:rPr lang="ru-RU" dirty="0">
                <a:cs typeface="Times New Roman" panose="02020603050405020304" pitchFamily="18" charset="0"/>
              </a:rPr>
              <a:t>Управление и отслеживание инвентаря, контроль доступа и безопасность на складах.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Транспортные операторы</a:t>
            </a:r>
            <a:r>
              <a:rPr lang="ru-RU" sz="2400" dirty="0">
                <a:cs typeface="Times New Roman" panose="02020603050405020304" pitchFamily="18" charset="0"/>
              </a:rPr>
              <a:t>: </a:t>
            </a:r>
          </a:p>
          <a:p>
            <a:r>
              <a:rPr lang="ru-RU" dirty="0">
                <a:cs typeface="Times New Roman" panose="02020603050405020304" pitchFamily="18" charset="0"/>
              </a:rPr>
              <a:t>Мониторинг местоположения транспортных средств и оборудования, оптимизация маршрутов и времени доставки.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Туристический и отельный бизнес</a:t>
            </a:r>
            <a:r>
              <a:rPr lang="ru-RU" sz="2400" dirty="0">
                <a:cs typeface="Times New Roman" panose="02020603050405020304" pitchFamily="18" charset="0"/>
              </a:rPr>
              <a:t>: </a:t>
            </a:r>
          </a:p>
          <a:p>
            <a:r>
              <a:rPr lang="ru-RU" dirty="0">
                <a:cs typeface="Times New Roman" panose="02020603050405020304" pitchFamily="18" charset="0"/>
              </a:rPr>
              <a:t>Улучшение сервиса и удобства гостей, отслеживание активов и предотвращение потерь.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b="1" dirty="0">
                <a:cs typeface="Times New Roman" panose="02020603050405020304" pitchFamily="18" charset="0"/>
              </a:rPr>
              <a:t>Частные пользователи</a:t>
            </a:r>
            <a:r>
              <a:rPr lang="ru-RU" sz="2400" dirty="0">
                <a:cs typeface="Times New Roman" panose="02020603050405020304" pitchFamily="18" charset="0"/>
              </a:rPr>
              <a:t>: </a:t>
            </a:r>
          </a:p>
          <a:p>
            <a:r>
              <a:rPr lang="ru-RU" dirty="0">
                <a:cs typeface="Times New Roman" panose="02020603050405020304" pitchFamily="18" charset="0"/>
              </a:rPr>
              <a:t>Потребители, которым важно отслеживание личных вещей, таких как ключи, кошельки или домашние животные.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cs typeface="Times New Roman" panose="02020603050405020304" pitchFamily="18" charset="0"/>
              </a:rPr>
              <a:t>Мониторинг прихода сотрудников: </a:t>
            </a:r>
          </a:p>
          <a:p>
            <a:r>
              <a:rPr lang="ru-RU" dirty="0">
                <a:cs typeface="Times New Roman" panose="02020603050405020304" pitchFamily="18" charset="0"/>
              </a:rPr>
              <a:t>Автоматизация процесса регистрации сотрудников(приход/уход). Обеспечивает точность и эффективность в управлении рабочим временем.</a:t>
            </a:r>
          </a:p>
        </p:txBody>
      </p:sp>
    </p:spTree>
    <p:extLst>
      <p:ext uri="{BB962C8B-B14F-4D97-AF65-F5344CB8AC3E}">
        <p14:creationId xmlns:p14="http://schemas.microsoft.com/office/powerpoint/2010/main" val="3865255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E49DC45-F507-44B6-B6CA-B840B458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3D7FF-FE66-4EA7-AA30-EF9B58C5C9E3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09398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1804</TotalTime>
  <Words>506</Words>
  <Application>Microsoft Office PowerPoint</Application>
  <PresentationFormat>Широкоэкранный</PresentationFormat>
  <Paragraphs>50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Seravek</vt:lpstr>
      <vt:lpstr>Times New Roman</vt:lpstr>
      <vt:lpstr>Тема Office</vt:lpstr>
      <vt:lpstr>Контроль приближения с использованием IoT </vt:lpstr>
      <vt:lpstr>Введение</vt:lpstr>
      <vt:lpstr>Цель проекта</vt:lpstr>
      <vt:lpstr>Используемые технологии</vt:lpstr>
      <vt:lpstr>Архитектура системы</vt:lpstr>
      <vt:lpstr>Преимущества проекта</vt:lpstr>
      <vt:lpstr>Аналоги</vt:lpstr>
      <vt:lpstr>Потенциальные потребители и применение</vt:lpstr>
      <vt:lpstr>Спасибо за внимание!</vt:lpstr>
    </vt:vector>
  </TitlesOfParts>
  <Company>VistaVideo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 Lesovoy</dc:creator>
  <cp:lastModifiedBy>Student</cp:lastModifiedBy>
  <cp:revision>200</cp:revision>
  <dcterms:created xsi:type="dcterms:W3CDTF">2018-05-28T23:03:13Z</dcterms:created>
  <dcterms:modified xsi:type="dcterms:W3CDTF">2024-06-21T06:43:05Z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